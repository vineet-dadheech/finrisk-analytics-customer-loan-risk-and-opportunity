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Outfit Extra Bold"/>
      <p:regular r:id="rId17"/>
    </p:embeddedFont>
    <p:embeddedFont>
      <p:font typeface="Arimo"/>
      <p:regular r:id="rId18"/>
    </p:embeddedFont>
    <p:embeddedFont>
      <p:font typeface="Arimo"/>
      <p:regular r:id="rId19"/>
    </p:embeddedFont>
    <p:embeddedFont>
      <p:font typeface="Arimo"/>
      <p:regular r:id="rId20"/>
    </p:embeddedFont>
    <p:embeddedFont>
      <p:font typeface="Arimo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53782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FinRisk Analytics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337328"/>
            <a:ext cx="61285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Strategic Loan Risk &amp; Opportunity Assessment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05097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The Challenge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13259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1.2%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6280190" y="4245054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Quarterly Default Increase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280190" y="5089803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Rising loan default rates requiring immediate action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893493" y="3213259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500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8893493" y="4245054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Customers Analyzed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893493" y="5089803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Comprehensive dataset with 20,000+ transactions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1506795" y="3213259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2%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1506795" y="4245054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Current Conversion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506795" y="5089803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Personal loan campaign performance needs improvement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6900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Critical Discovery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368510"/>
            <a:ext cx="59640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Traditional Credit Scores Miss the Full Picture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2898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3870960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Customers with CIBIL scores &gt;650 still defaulting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4800838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Static demographic data lacks real-time visibility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5730716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False positives in loan approvals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4856321" y="32898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The Solution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856321" y="3870960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Behavioral risk markers from transactional data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856321" y="4800838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Cash flow analysis reveals true financial health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4856321" y="5730716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Real-time financial distress indicators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56999"/>
            <a:ext cx="704921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Introducing: The Burn Rate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1805940"/>
            <a:ext cx="3664744" cy="2229445"/>
          </a:xfrm>
          <a:prstGeom prst="roundRect">
            <a:avLst>
              <a:gd name="adj" fmla="val 4273"/>
            </a:avLst>
          </a:prstGeom>
          <a:solidFill>
            <a:srgbClr val="E9E6FA"/>
          </a:solidFill>
          <a:ln w="7620">
            <a:solidFill>
              <a:srgbClr val="5E4C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28224" y="204037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5E4CE6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5390" y="2227421"/>
            <a:ext cx="306110" cy="3061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8224" y="29476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Formula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28224" y="3438049"/>
            <a:ext cx="31958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Total Outflow ÷ Total Inflow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4685348" y="1805940"/>
            <a:ext cx="3664863" cy="2229445"/>
          </a:xfrm>
          <a:prstGeom prst="roundRect">
            <a:avLst>
              <a:gd name="adj" fmla="val 4273"/>
            </a:avLst>
          </a:prstGeom>
          <a:solidFill>
            <a:srgbClr val="E9E6FA"/>
          </a:solidFill>
          <a:ln w="7620">
            <a:solidFill>
              <a:srgbClr val="5E4CE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919782" y="204037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5E4CE6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06948" y="2227421"/>
            <a:ext cx="306110" cy="30611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19782" y="29476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Critical Threshold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4919782" y="3438049"/>
            <a:ext cx="3195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Burn Rate &gt;0.90 = High Risk</a:t>
            </a:r>
            <a:endParaRPr lang="en-US" sz="1750" dirty="0"/>
          </a:p>
        </p:txBody>
      </p:sp>
      <p:sp>
        <p:nvSpPr>
          <p:cNvPr id="14" name="Shape 9"/>
          <p:cNvSpPr/>
          <p:nvPr/>
        </p:nvSpPr>
        <p:spPr>
          <a:xfrm>
            <a:off x="793790" y="4262199"/>
            <a:ext cx="7556421" cy="2229445"/>
          </a:xfrm>
          <a:prstGeom prst="roundRect">
            <a:avLst>
              <a:gd name="adj" fmla="val 4273"/>
            </a:avLst>
          </a:prstGeom>
          <a:solidFill>
            <a:srgbClr val="E9E6FA"/>
          </a:solidFill>
          <a:ln w="7620">
            <a:solidFill>
              <a:srgbClr val="5E4CE6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1028224" y="449663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5E4CE6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15390" y="4683681"/>
            <a:ext cx="306110" cy="30611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28224" y="54038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Impact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1028224" y="5894308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65% of defaults identified</a:t>
            </a:r>
            <a:endParaRPr lang="en-US" sz="1750" dirty="0"/>
          </a:p>
        </p:txBody>
      </p:sp>
      <p:sp>
        <p:nvSpPr>
          <p:cNvPr id="19" name="Text 13"/>
          <p:cNvSpPr/>
          <p:nvPr/>
        </p:nvSpPr>
        <p:spPr>
          <a:xfrm>
            <a:off x="793790" y="674679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powerful new metric that captures "living within means" better than traditional scores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607" y="2649260"/>
            <a:ext cx="4919186" cy="293108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139172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CIBIL Score Limitations Revealed</a:t>
            </a:r>
            <a:endParaRPr lang="en-US" sz="4450" dirty="0"/>
          </a:p>
        </p:txBody>
      </p:sp>
      <p:sp>
        <p:nvSpPr>
          <p:cNvPr id="5" name="Shape 1"/>
          <p:cNvSpPr/>
          <p:nvPr/>
        </p:nvSpPr>
        <p:spPr>
          <a:xfrm>
            <a:off x="793790" y="3149441"/>
            <a:ext cx="7556421" cy="1730812"/>
          </a:xfrm>
          <a:prstGeom prst="roundRect">
            <a:avLst>
              <a:gd name="adj" fmla="val 5504"/>
            </a:avLst>
          </a:prstGeom>
          <a:solidFill>
            <a:srgbClr val="FAFAFA">
              <a:alpha val="95000"/>
            </a:srgbClr>
          </a:solidFill>
          <a:ln w="30480">
            <a:solidFill>
              <a:srgbClr val="BDB8DF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051084" y="3406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The Overlap Zone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051084" y="3897154"/>
            <a:ext cx="704183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Significant overlap in 650-700 range between defaulted and paid-off customers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793790" y="5107067"/>
            <a:ext cx="7556421" cy="1730812"/>
          </a:xfrm>
          <a:prstGeom prst="roundRect">
            <a:avLst>
              <a:gd name="adj" fmla="val 5504"/>
            </a:avLst>
          </a:prstGeom>
          <a:solidFill>
            <a:srgbClr val="FAFAFA">
              <a:alpha val="95000"/>
            </a:srgbClr>
          </a:solidFill>
          <a:ln w="30480">
            <a:solidFill>
              <a:srgbClr val="BDB8D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051084" y="53643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The Blind Spot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051084" y="5854779"/>
            <a:ext cx="704183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Mid-range scores cannot distinguish temporary dips from chronic default risk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88" y="2597944"/>
            <a:ext cx="4919305" cy="303359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80190" y="190202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Cash Flow: The Leading Indicator</a:t>
            </a:r>
            <a:endParaRPr lang="en-US" sz="4450" dirty="0"/>
          </a:p>
        </p:txBody>
      </p:sp>
      <p:sp>
        <p:nvSpPr>
          <p:cNvPr id="5" name="Text 1"/>
          <p:cNvSpPr/>
          <p:nvPr/>
        </p:nvSpPr>
        <p:spPr>
          <a:xfrm>
            <a:off x="6280190" y="38865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Defaulted Group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280190" y="4467701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Peak at or below zero Net Cash Flow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6280190" y="5397579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Visible months before missed payments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10342721" y="38865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Paid Off Group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0342721" y="4467701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Maintains positive monthly surplus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10342721" y="5034677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Consistent financial cushion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88" y="2277070"/>
            <a:ext cx="4919305" cy="36753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80190" y="245721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The Risk Quadrant</a:t>
            </a:r>
            <a:endParaRPr lang="en-US" sz="4450" dirty="0"/>
          </a:p>
        </p:txBody>
      </p:sp>
      <p:sp>
        <p:nvSpPr>
          <p:cNvPr id="5" name="Text 1"/>
          <p:cNvSpPr/>
          <p:nvPr/>
        </p:nvSpPr>
        <p:spPr>
          <a:xfrm>
            <a:off x="6280190" y="3256717"/>
            <a:ext cx="38983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Wealth vs. Burn Rate Analysis</a:t>
            </a:r>
            <a:endParaRPr lang="en-US" sz="2200" dirty="0"/>
          </a:p>
        </p:txBody>
      </p:sp>
      <p:sp>
        <p:nvSpPr>
          <p:cNvPr id="6" name="Shape 2"/>
          <p:cNvSpPr/>
          <p:nvPr/>
        </p:nvSpPr>
        <p:spPr>
          <a:xfrm>
            <a:off x="6280190" y="3951208"/>
            <a:ext cx="7556421" cy="1821180"/>
          </a:xfrm>
          <a:prstGeom prst="roundRect">
            <a:avLst>
              <a:gd name="adj" fmla="val 5231"/>
            </a:avLst>
          </a:prstGeom>
          <a:solidFill>
            <a:srgbClr val="5E4CE6">
              <a:alpha val="50000"/>
            </a:srgbClr>
          </a:solidFill>
          <a:ln w="7620">
            <a:solidFill>
              <a:srgbClr val="7765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514624" y="41856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Danger Zone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514624" y="4676061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Low Wealth (&lt;₹5,000) + High Burn Rate (&gt;90%)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6514624" y="5175052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Highest concentration of defaults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2232" y="560070"/>
            <a:ext cx="8610243" cy="635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Recommendation 1: Red Flag System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12232" y="1602938"/>
            <a:ext cx="203478" cy="25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12232" y="1925836"/>
            <a:ext cx="4266248" cy="22860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5" name="Text 3"/>
          <p:cNvSpPr/>
          <p:nvPr/>
        </p:nvSpPr>
        <p:spPr>
          <a:xfrm>
            <a:off x="712232" y="2073235"/>
            <a:ext cx="3718203" cy="31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Integrate Cash Flow Stress Test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2232" y="2513290"/>
            <a:ext cx="4266248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Add to loan application API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181957" y="1602938"/>
            <a:ext cx="203478" cy="25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181957" y="1925836"/>
            <a:ext cx="4266367" cy="22860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9" name="Text 7"/>
          <p:cNvSpPr/>
          <p:nvPr/>
        </p:nvSpPr>
        <p:spPr>
          <a:xfrm>
            <a:off x="5181957" y="2073235"/>
            <a:ext cx="2684859" cy="31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Trigger High Risk Alert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181957" y="2513290"/>
            <a:ext cx="4266367" cy="651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Burn Rate &gt;0.95 AND Net Cash Flow &lt;₹0 over 3 months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51802" y="1602938"/>
            <a:ext cx="203478" cy="25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651802" y="1925836"/>
            <a:ext cx="4266248" cy="22860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13" name="Text 11"/>
          <p:cNvSpPr/>
          <p:nvPr/>
        </p:nvSpPr>
        <p:spPr>
          <a:xfrm>
            <a:off x="9651802" y="2073235"/>
            <a:ext cx="3992642" cy="31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Filter Over-Leveraged Applicants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651802" y="2513290"/>
            <a:ext cx="4266248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Prevent bad loans that look good on paper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63496" y="4868704"/>
            <a:ext cx="2503170" cy="508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15%</a:t>
            </a:r>
            <a:endParaRPr lang="en-US" sz="40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8819" y="3596759"/>
            <a:ext cx="3052763" cy="3052763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043255" y="6903839"/>
            <a:ext cx="2543889" cy="31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Target Reduction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712232" y="7343894"/>
            <a:ext cx="13205936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Expected decrease in default rate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0783" y="432792"/>
            <a:ext cx="6712744" cy="491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0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Recommendation 2: Prime Prospects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550783" y="987504"/>
            <a:ext cx="3035737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Untapped Opportunity Identified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783" y="1469350"/>
            <a:ext cx="4378404" cy="43784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0783" y="6005036"/>
            <a:ext cx="1967270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The Prime Segment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50783" y="6345317"/>
            <a:ext cx="4378404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18% of customer base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50783" y="6691551"/>
            <a:ext cx="4378404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 Active Loan + CIBIL &gt;750 + Wealth &gt;₹50,000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879" y="1469350"/>
            <a:ext cx="4378523" cy="437852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25879" y="6005155"/>
            <a:ext cx="1967270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Targeted Campaign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125879" y="6345436"/>
            <a:ext cx="4378523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Wealth Management &amp; Personal Credit offers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125879" y="6691670"/>
            <a:ext cx="4378523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Lower interest rates for near-zero risk profile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1093" y="1469350"/>
            <a:ext cx="4378404" cy="43784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701093" y="6005036"/>
            <a:ext cx="1967270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Cross-Sell Strategy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9701093" y="6345317"/>
            <a:ext cx="4378404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Premium credit cards to build engagement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9701093" y="6691551"/>
            <a:ext cx="4378404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Convert non-loan customers to active borrowers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50783" y="7199114"/>
            <a:ext cx="13528834" cy="519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50"/>
              </a:lnSpc>
              <a:buNone/>
            </a:pPr>
            <a:r>
              <a:rPr lang="en-US" sz="40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5%</a:t>
            </a:r>
            <a:endParaRPr lang="en-US" sz="4050" dirty="0"/>
          </a:p>
        </p:txBody>
      </p:sp>
      <p:sp>
        <p:nvSpPr>
          <p:cNvPr id="17" name="Text 12"/>
          <p:cNvSpPr/>
          <p:nvPr/>
        </p:nvSpPr>
        <p:spPr>
          <a:xfrm>
            <a:off x="6331506" y="7915037"/>
            <a:ext cx="1967270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Target Conversion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50783" y="8255318"/>
            <a:ext cx="13528834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Up from current 2% campaign performance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10784"/>
            <a:ext cx="695456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Next Steps &amp; Future Vision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2559725"/>
            <a:ext cx="1134070" cy="16698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54674" y="27865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Predictive Modeling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154674" y="3276957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Random Forest Classifier for 0-100% default probability scores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229576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54674" y="4456390"/>
            <a:ext cx="29040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Real-Time Dashboard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154674" y="4946809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Power BI deployment for underwriting team assessment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1133951" y="6100763"/>
            <a:ext cx="72162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Transform risk management from reactive to predictive</a:t>
            </a:r>
            <a:endParaRPr lang="en-US" sz="1750" dirty="0"/>
          </a:p>
        </p:txBody>
      </p:sp>
      <p:sp>
        <p:nvSpPr>
          <p:cNvPr id="11" name="Shape 6"/>
          <p:cNvSpPr/>
          <p:nvPr/>
        </p:nvSpPr>
        <p:spPr>
          <a:xfrm>
            <a:off x="793790" y="5845612"/>
            <a:ext cx="30480" cy="873204"/>
          </a:xfrm>
          <a:prstGeom prst="rect">
            <a:avLst/>
          </a:prstGeom>
          <a:solidFill>
            <a:srgbClr val="5E4CE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2025-11-19T11:42:38Z</dcterms:created>
  <dcterms:modified xsi:type="dcterms:W3CDTF">2025-11-19T11:42:38Z</dcterms:modified>
</cp:coreProperties>
</file>